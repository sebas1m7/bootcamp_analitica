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Inter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79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21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.jpeg"/><Relationship Id="rId3" Type="http://schemas.openxmlformats.org/officeDocument/2006/relationships/image" Target="../media/image6.png"/><Relationship Id="rId7" Type="http://schemas.openxmlformats.org/officeDocument/2006/relationships/image" Target="../media/image-3-6.svg"/><Relationship Id="rId12" Type="http://schemas.openxmlformats.org/officeDocument/2006/relationships/image" Target="../media/image-3-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-3-3.sv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-3-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-4-6.svg"/><Relationship Id="rId12" Type="http://schemas.openxmlformats.org/officeDocument/2006/relationships/image" Target="../media/image-4-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-4-3.svg"/><Relationship Id="rId4" Type="http://schemas.openxmlformats.org/officeDocument/2006/relationships/image" Target="../media/image7.png"/><Relationship Id="rId9" Type="http://schemas.openxmlformats.org/officeDocument/2006/relationships/image" Target="../media/image-4-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56046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Análisis de Datos: E-Commerce de Hardware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48472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del Bootcamp de Análisis de Datos que demuestra competencias en limpieza, análisis y visualización de información del comercio electrónico de hardware (2020-2022).</a:t>
            </a:r>
            <a:endParaRPr lang="en-US" sz="1750" dirty="0"/>
          </a:p>
        </p:txBody>
      </p:sp>
      <p:pic>
        <p:nvPicPr>
          <p:cNvPr id="5" name="Picture 2" descr="Mintic abrió más 3.000 nuevos cupos para formación digital en Boyacá y  Cundinamarca: así puede participar - Infoba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085" y="6858001"/>
            <a:ext cx="227231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661" y="564594"/>
            <a:ext cx="7326630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El Poder del Análisis de Datos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8661" y="1730931"/>
            <a:ext cx="6346031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un mundo cada vez más volátil y competitivo, los analistas de datos transforman grandes conjuntos de información en conocimiento estratégico. Esta capacidad permite a las empresas anticiparse a tendencias, optimizar procesos y tomar decisiones fundamentales para su crecimiento y sostenibilidad.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369" y="1777127"/>
            <a:ext cx="6346031" cy="6346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1983"/>
            <a:ext cx="6045756" cy="74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Objetivos del Proyecto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1647" y="1816418"/>
            <a:ext cx="6410444" cy="2964656"/>
          </a:xfrm>
          <a:prstGeom prst="roundRect">
            <a:avLst>
              <a:gd name="adj" fmla="val 320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66" y="2050137"/>
            <a:ext cx="678537" cy="67853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1937" y="2236708"/>
            <a:ext cx="305276" cy="3052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5366" y="2954774"/>
            <a:ext cx="2968823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Objetivo General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1025366" y="3461504"/>
            <a:ext cx="594300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Analizar, limpiar y visualizar datos de e-commerce de hardware aplicando técnicas del bootcamp para interpretar resultados estratégicos.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190" y="1816418"/>
            <a:ext cx="6410563" cy="2964656"/>
          </a:xfrm>
          <a:prstGeom prst="roundRect">
            <a:avLst>
              <a:gd name="adj" fmla="val 320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1910" y="2050137"/>
            <a:ext cx="678537" cy="67853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8481" y="2236708"/>
            <a:ext cx="305276" cy="3052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61910" y="2954774"/>
            <a:ext cx="2968823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Consolidación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7661910" y="3461504"/>
            <a:ext cx="594312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Limpiar la base de datos mediante Python para garantizar calidad y consistencia de la información.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1647" y="5007173"/>
            <a:ext cx="6410444" cy="2602706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366" y="5240893"/>
            <a:ext cx="678537" cy="678537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1937" y="5427464"/>
            <a:ext cx="305276" cy="30527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5366" y="6145530"/>
            <a:ext cx="2968823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Métricas Clave</a:t>
            </a:r>
            <a:endParaRPr lang="en-US" sz="2300" dirty="0"/>
          </a:p>
        </p:txBody>
      </p:sp>
      <p:sp>
        <p:nvSpPr>
          <p:cNvPr id="17" name="Text 9"/>
          <p:cNvSpPr/>
          <p:nvPr/>
        </p:nvSpPr>
        <p:spPr>
          <a:xfrm>
            <a:off x="1025366" y="6652260"/>
            <a:ext cx="59430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Generar indicadores de rentabilidad y rendimiento por países, marcas y categorías de productos.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428190" y="5007173"/>
            <a:ext cx="6410563" cy="2602706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1910" y="5240893"/>
            <a:ext cx="678537" cy="678537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8481" y="5427464"/>
            <a:ext cx="305276" cy="30527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61910" y="6145530"/>
            <a:ext cx="2968823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Visualización</a:t>
            </a:r>
            <a:endParaRPr lang="en-US" sz="2300" dirty="0"/>
          </a:p>
        </p:txBody>
      </p:sp>
      <p:sp>
        <p:nvSpPr>
          <p:cNvPr id="22" name="Text 12"/>
          <p:cNvSpPr/>
          <p:nvPr/>
        </p:nvSpPr>
        <p:spPr>
          <a:xfrm>
            <a:off x="7661910" y="6652260"/>
            <a:ext cx="594312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Desarrollar dashboards interactivos en Power BI para identificar patrones y tendencias relevantes.</a:t>
            </a:r>
            <a:endParaRPr lang="en-US" sz="1750" dirty="0"/>
          </a:p>
        </p:txBody>
      </p:sp>
      <p:pic>
        <p:nvPicPr>
          <p:cNvPr id="23" name="Picture 2" descr="Mintic abrió más 3.000 nuevos cupos para formación digital en Boyacá y  Cundinamarca: así puede participar - Infoba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085" y="7609879"/>
            <a:ext cx="2272315" cy="61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9094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Fuente y Estructura de Datos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96835" y="967264"/>
            <a:ext cx="181784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Características del 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8710" y="1383058"/>
            <a:ext cx="567059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Kaggle (e-commerce de hardware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58710" y="1822251"/>
            <a:ext cx="53686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Período: enero 2020 - octubre 2022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8710" y="2246737"/>
            <a:ext cx="53686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Registros: ~5,000 transacciones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8710" y="2740698"/>
            <a:ext cx="53686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Herramientas: Python (pandas, random) y Power BI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38" y="0"/>
            <a:ext cx="8191262" cy="819126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835" y="9441894"/>
            <a:ext cx="113348" cy="11334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35" y="9605129"/>
            <a:ext cx="6861691" cy="15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6835" y="9692283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Identificadores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96835" y="9946243"/>
            <a:ext cx="686169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de orden, país, fecha de pedido y estado de transacción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71874" y="9441894"/>
            <a:ext cx="113348" cy="113348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874" y="9605129"/>
            <a:ext cx="6861691" cy="152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71874" y="9692283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Productos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7371874" y="9946243"/>
            <a:ext cx="686169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Nombre, categoría (RAM, GPU, monitores), marca y cantidad vendida</a:t>
            </a:r>
            <a:endParaRPr lang="en-US" sz="8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835" y="10317599"/>
            <a:ext cx="113348" cy="113348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35" y="10480834"/>
            <a:ext cx="6861691" cy="1524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96835" y="10590609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Financieros</a:t>
            </a:r>
            <a:endParaRPr lang="en-US" sz="1150" dirty="0"/>
          </a:p>
        </p:txBody>
      </p:sp>
      <p:sp>
        <p:nvSpPr>
          <p:cNvPr id="20" name="Text 11"/>
          <p:cNvSpPr/>
          <p:nvPr/>
        </p:nvSpPr>
        <p:spPr>
          <a:xfrm>
            <a:off x="396835" y="10844570"/>
            <a:ext cx="686169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Costos totales, ventas totales y ganancias calculadas por transacción</a:t>
            </a:r>
            <a:endParaRPr lang="en-US" sz="8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71874" y="10317599"/>
            <a:ext cx="113348" cy="113348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874" y="10480834"/>
            <a:ext cx="6861691" cy="1524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371874" y="10590609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Gestión</a:t>
            </a:r>
            <a:endParaRPr lang="en-US" sz="1150" dirty="0"/>
          </a:p>
        </p:txBody>
      </p:sp>
      <p:sp>
        <p:nvSpPr>
          <p:cNvPr id="24" name="Text 13"/>
          <p:cNvSpPr/>
          <p:nvPr/>
        </p:nvSpPr>
        <p:spPr>
          <a:xfrm>
            <a:off x="7371874" y="10844570"/>
            <a:ext cx="686169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 responsable de cada venta para análisis de desempeño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041" y="556379"/>
            <a:ext cx="9410938" cy="66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Proceso de Limpieza y Transformación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41" y="1621750"/>
            <a:ext cx="1008578" cy="12102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16311" y="1823442"/>
            <a:ext cx="2647712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Importación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1916311" y="2275403"/>
            <a:ext cx="1200804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de CSV usando pandas y lectura inicial de datos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41" y="2832021"/>
            <a:ext cx="1008578" cy="12102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16311" y="3033713"/>
            <a:ext cx="2647712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Limpieza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916311" y="3485674"/>
            <a:ext cx="1200804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Eliminación de valores nulos, duplicados y normalización de campos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41" y="4042291"/>
            <a:ext cx="1008578" cy="12102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16311" y="4243983"/>
            <a:ext cx="2647712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Enriquecimiento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1916311" y="4695944"/>
            <a:ext cx="1200804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Creación de columnas calculadas: ganancias y distribución aleatoria de países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041" y="5252561"/>
            <a:ext cx="1008578" cy="12102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16311" y="5454253"/>
            <a:ext cx="2647712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Filtrado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1916311" y="5906214"/>
            <a:ext cx="1200804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búsquedas por marca, supervisor y país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041" y="6462832"/>
            <a:ext cx="1008578" cy="12102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16311" y="6664523"/>
            <a:ext cx="2647712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Exportación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1916311" y="7116485"/>
            <a:ext cx="1200804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archivo .xlsx para análisis en Power BI</a:t>
            </a:r>
            <a:endParaRPr lang="en-US" sz="1550" dirty="0"/>
          </a:p>
        </p:txBody>
      </p:sp>
      <p:pic>
        <p:nvPicPr>
          <p:cNvPr id="18" name="Picture 2" descr="Mintic abrió más 3.000 nuevos cupos para formación digital en Boyacá y  Cundinamarca: así puede participar - Infoba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085" y="6858001"/>
            <a:ext cx="227231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10772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Hallazgos Clave: Tendencias de Ventas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466267"/>
            <a:ext cx="350150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280189" y="3883699"/>
            <a:ext cx="7826336" cy="327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CO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Ventas Totales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: $99.33 mill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GANCIAS: $22.91 mill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MARGEN BRUTO: 23.08% (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exelente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)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PRODUCTOS MAS VENDIDOS: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Monitores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, mouse y CPU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MARCAS LIDERES: Samsung (23%), DELL (18%) e Intel (11%)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COMPORTAMIENTO TEMPORAL: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Picos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cada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6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meses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(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Marzo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y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Octubre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)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Conclucion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: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Negocio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tecnologico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solido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diversificado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y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renbtable</a:t>
            </a:r>
            <a:endParaRPr lang="en-US" sz="1750" dirty="0" smtClean="0">
              <a:solidFill>
                <a:srgbClr val="E0D6DE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342721" y="34662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342721" y="4065151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026" name="Picture 2" descr="Mintic abrió más 3.000 nuevos cupos para formación digital en Boyacá y  Cundinamarca: así puede participar - Infoba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085" y="7323903"/>
            <a:ext cx="2272315" cy="90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4016"/>
            <a:ext cx="763131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Análisis por País y Producto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0287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536877"/>
            <a:ext cx="13969960" cy="2444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PRINCIPALES MERCADOS: Mexico, India, EE.UU, China y Australia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DISTRIBUCION EQUILIBRADA: NINGUN PAIS SUPERA EL 9% DEL TOTAL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PRODUCTOS MAS VENDIDOS: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Tarjetas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graficas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de 2 GB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monitores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y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perifericos</a:t>
            </a:r>
            <a:endParaRPr lang="en-US" sz="1750" dirty="0" smtClean="0">
              <a:solidFill>
                <a:srgbClr val="E0D6DE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CONCLUSION: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Expancion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internacional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exitosa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y Mercado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orientado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a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consumidores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medios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, no de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alta</a:t>
            </a:r>
            <a:r>
              <a:rPr lang="en-US" sz="175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gama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456884" y="4028718"/>
            <a:ext cx="328457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56884" y="4536877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Picture 2" descr="Mintic abrió más 3.000 nuevos cupos para formación digital en Boyacá y  Cundinamarca: así puede participar - Infoba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085" y="6858001"/>
            <a:ext cx="227231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661" y="564594"/>
            <a:ext cx="8344614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Desempeño del Equipo Comercial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61" y="1777127"/>
            <a:ext cx="6346031" cy="63460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3327" y="1751409"/>
            <a:ext cx="2695099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Diferencias Marcadas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73327" y="2293620"/>
            <a:ext cx="6876098" cy="2362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SUPERVISORES: con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desempe</a:t>
            </a:r>
            <a:r>
              <a:rPr lang="es-CO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ño</a:t>
            </a:r>
            <a:r>
              <a:rPr lang="es-CO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casi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(15-19% del total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manejan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1900 – 2000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unidades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Equilibrio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: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Indica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Buena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gestion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y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capacitacion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,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aunque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poca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competencia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CONCLUSION: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Estrutura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humana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eficiente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y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bien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distribuida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3327" y="3484721"/>
            <a:ext cx="3138488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954202" y="4499133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550"/>
              </a:lnSpc>
              <a:buSzPct val="100000"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3327" y="4427339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550"/>
              </a:lnSpc>
              <a:buSzPct val="100000"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3327" y="4827746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endParaRPr lang="en-US" sz="1600" dirty="0"/>
          </a:p>
        </p:txBody>
      </p:sp>
      <p:pic>
        <p:nvPicPr>
          <p:cNvPr id="10" name="Picture 2" descr="Mintic abrió más 3.000 nuevos cupos para formación digital en Boyacá y  Cundinamarca: así puede participar - Infoba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085" y="7323903"/>
            <a:ext cx="2272315" cy="90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445" y="404336"/>
            <a:ext cx="6175534" cy="480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Calidad de Distribución y Logística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91931" y="1859041"/>
            <a:ext cx="13829417" cy="400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850" b="1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MARCAS CON MAS PEDIDOS: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Samsung (1,199), Dell (998) Intel (600)</a:t>
            </a:r>
          </a:p>
          <a:p>
            <a:pPr marL="0" indent="0">
              <a:lnSpc>
                <a:spcPts val="2850"/>
              </a:lnSpc>
              <a:buNone/>
            </a:pPr>
            <a:endParaRPr lang="en-US" sz="2850" b="1" dirty="0" smtClean="0">
              <a:solidFill>
                <a:srgbClr val="E0D6DE"/>
              </a:solidFill>
              <a:latin typeface="Petrona Bold" pitchFamily="34" charset="0"/>
              <a:ea typeface="Petrona Bold" pitchFamily="34" charset="-122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2850" b="1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ESTADOS DE PEDIDOS: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25% 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en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cada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fase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(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logistica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perfectamente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balanceada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.</a:t>
            </a:r>
          </a:p>
          <a:p>
            <a:pPr marL="0" indent="0">
              <a:lnSpc>
                <a:spcPts val="2850"/>
              </a:lnSpc>
              <a:buNone/>
            </a:pPr>
            <a:endParaRPr lang="en-US" sz="2850" b="1" dirty="0" smtClean="0">
              <a:solidFill>
                <a:srgbClr val="E0D6DE"/>
              </a:solidFill>
              <a:latin typeface="Petrona Bold" pitchFamily="34" charset="0"/>
              <a:ea typeface="Petrona Bold" pitchFamily="34" charset="-122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2850" b="1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CONCLUSION: 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Sistema de 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distribucion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optimizado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y 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presencia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 global (12 </a:t>
            </a:r>
            <a:r>
              <a:rPr lang="en-US" sz="2850" dirty="0" err="1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paises</a:t>
            </a:r>
            <a:r>
              <a:rPr lang="en-US" sz="2850" dirty="0" smtClean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</a:rPr>
              <a:t>)</a:t>
            </a:r>
            <a:endParaRPr lang="en-US" sz="2850" dirty="0"/>
          </a:p>
        </p:txBody>
      </p:sp>
      <p:sp>
        <p:nvSpPr>
          <p:cNvPr id="15" name="Text 10"/>
          <p:cNvSpPr/>
          <p:nvPr/>
        </p:nvSpPr>
        <p:spPr>
          <a:xfrm>
            <a:off x="9861709" y="5399961"/>
            <a:ext cx="1800939" cy="365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2850" dirty="0"/>
          </a:p>
        </p:txBody>
      </p:sp>
      <p:sp>
        <p:nvSpPr>
          <p:cNvPr id="17" name="Text 11"/>
          <p:cNvSpPr/>
          <p:nvPr/>
        </p:nvSpPr>
        <p:spPr>
          <a:xfrm>
            <a:off x="9801344" y="6864072"/>
            <a:ext cx="192178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406640" y="7191970"/>
            <a:ext cx="6711315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12445" y="7590949"/>
            <a:ext cx="13605510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distribución desigual sugiere posibles cuellos de botella en logística, señalando oportunidades para optimizar procesos de despacho y seguimiento.</a:t>
            </a:r>
            <a:endParaRPr lang="en-US" sz="1150" dirty="0"/>
          </a:p>
        </p:txBody>
      </p:sp>
      <p:pic>
        <p:nvPicPr>
          <p:cNvPr id="20" name="Picture 2" descr="Mintic abrió más 3.000 nuevos cupos para formación digital en Boyacá y  Cundinamarca: así puede participar - Infoba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2319" y="6858001"/>
            <a:ext cx="227231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156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353" y="3349109"/>
            <a:ext cx="8229243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Conclusiones y Valor Estratégico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32353" y="4349591"/>
            <a:ext cx="4249103" cy="2241590"/>
          </a:xfrm>
          <a:prstGeom prst="roundRect">
            <a:avLst>
              <a:gd name="adj" fmla="val 3921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9166" y="4566404"/>
            <a:ext cx="285166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Patrones Identificados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49166" y="5035153"/>
            <a:ext cx="3815477" cy="1339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negocio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prenseta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salud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finaciera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exelente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90649" y="4349591"/>
            <a:ext cx="4249103" cy="2241590"/>
          </a:xfrm>
          <a:prstGeom prst="roundRect">
            <a:avLst>
              <a:gd name="adj" fmla="val 3921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07462" y="4566404"/>
            <a:ext cx="3559731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Competencias Consolidadas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407462" y="5035153"/>
            <a:ext cx="3815477" cy="1339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Marcas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ancladas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(Samsung,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Dell,Intel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Con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apoyo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de </a:t>
            </a:r>
            <a:r>
              <a:rPr lang="en-US" sz="1600" dirty="0" err="1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otras</a:t>
            </a:r>
            <a:r>
              <a:rPr lang="en-US" sz="1600" dirty="0" smtClean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 8 mas.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48944" y="4349591"/>
            <a:ext cx="4249103" cy="2241590"/>
          </a:xfrm>
          <a:prstGeom prst="roundRect">
            <a:avLst>
              <a:gd name="adj" fmla="val 3921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65757" y="4566404"/>
            <a:ext cx="2746415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Impacto Empresarial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865757" y="5035153"/>
            <a:ext cx="3815477" cy="1339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análisis de datos es esencial para detectar oportunidades, optimizar procesos y tomar decisiones basadas en evidencia.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2353" y="6826568"/>
            <a:ext cx="13165693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proyecto demuestra que la visualización y el análisis de datos impulsan la competitividad y sostenibilidad en el comercio electrónico.</a:t>
            </a:r>
            <a:endParaRPr lang="en-US" sz="1600" dirty="0"/>
          </a:p>
        </p:txBody>
      </p:sp>
      <p:pic>
        <p:nvPicPr>
          <p:cNvPr id="14" name="Picture 2" descr="Mintic abrió más 3.000 nuevos cupos para formación digital en Boyacá y  Cundinamarca: así puede participar - Infoba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085" y="7323903"/>
            <a:ext cx="2272315" cy="90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Mintic abrió más 3.000 nuevos cupos para formación digital en Boyacá y  Cundinamarca: así puede participar - Infoba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085" y="7323903"/>
            <a:ext cx="2272315" cy="90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466725" y="581025"/>
            <a:ext cx="2190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solidFill>
                  <a:schemeClr val="bg1"/>
                </a:solidFill>
              </a:rPr>
              <a:t>RIESGOS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466725" y="1390650"/>
            <a:ext cx="68770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</a:t>
            </a:r>
            <a:r>
              <a:rPr lang="en-US" sz="2800" dirty="0" smtClean="0">
                <a:solidFill>
                  <a:schemeClr val="bg1"/>
                </a:solidFill>
              </a:rPr>
              <a:t>MERCADO ENFOCADO SOLO EN PCS TRADICIONALES 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-POSIBLE COMPETENCIA DIRECTA DE LAS MARCAS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-MARGEN BAJO EN PRODUCTOS COMODITIZADOS (RAM,SSD)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-RIESGO DE OBSOLESCENCIA TECNOLOGICA 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-FALTA DE INCENTIVOS PARA DESTACAR ENTRE SUPERVISORES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105775" y="666750"/>
            <a:ext cx="4848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RECOMENDACION FINAL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7886699" y="1581150"/>
            <a:ext cx="60864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EL NEGOCIO ESTA FINANCIERAMENTE SOLIDO Y BIEN GESTIONADO PERO DEBE ENFOCARSE EN: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-OPTIMIZAR MARGENES (CORTO PLAZO).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-EXPANDIRSE A SEGMENTOS PREMIUM (MEDIANO PLAZO)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-DIVERSIFICAR HACIA NUEVOS PRODUCTOS TECNOLOGICOS (LARGO PLAZO)</a:t>
            </a: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VEREDICTO: </a:t>
            </a:r>
            <a:r>
              <a:rPr lang="en-US" sz="2400" dirty="0" err="1" smtClean="0">
                <a:solidFill>
                  <a:schemeClr val="bg1"/>
                </a:solidFill>
              </a:rPr>
              <a:t>Empresa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exitosa</a:t>
            </a:r>
            <a:r>
              <a:rPr lang="en-US" sz="2400" dirty="0" smtClean="0">
                <a:solidFill>
                  <a:schemeClr val="bg1"/>
                </a:solidFill>
              </a:rPr>
              <a:t>, rentable y con </a:t>
            </a:r>
            <a:r>
              <a:rPr lang="en-US" sz="2400" dirty="0" err="1" smtClean="0">
                <a:solidFill>
                  <a:schemeClr val="bg1"/>
                </a:solidFill>
              </a:rPr>
              <a:t>potencial</a:t>
            </a:r>
            <a:r>
              <a:rPr lang="en-US" sz="2400" dirty="0" smtClean="0">
                <a:solidFill>
                  <a:schemeClr val="bg1"/>
                </a:solidFill>
              </a:rPr>
              <a:t> de </a:t>
            </a:r>
            <a:r>
              <a:rPr lang="en-US" sz="2400" dirty="0" err="1" smtClean="0">
                <a:solidFill>
                  <a:schemeClr val="bg1"/>
                </a:solidFill>
              </a:rPr>
              <a:t>duplicar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su</a:t>
            </a:r>
            <a:r>
              <a:rPr lang="en-US" sz="2400" dirty="0" smtClean="0">
                <a:solidFill>
                  <a:schemeClr val="bg1"/>
                </a:solidFill>
              </a:rPr>
              <a:t> tama</a:t>
            </a:r>
            <a:r>
              <a:rPr lang="es-CO" sz="2400" dirty="0" err="1" smtClean="0">
                <a:solidFill>
                  <a:schemeClr val="bg1"/>
                </a:solidFill>
              </a:rPr>
              <a:t>ño</a:t>
            </a:r>
            <a:r>
              <a:rPr lang="es-CO" sz="2400" dirty="0" smtClean="0">
                <a:solidFill>
                  <a:schemeClr val="bg1"/>
                </a:solidFill>
              </a:rPr>
              <a:t> en 3</a:t>
            </a:r>
            <a:r>
              <a:rPr lang="en-US" sz="2400" dirty="0" smtClean="0">
                <a:solidFill>
                  <a:schemeClr val="bg1"/>
                </a:solidFill>
              </a:rPr>
              <a:t>-5 a</a:t>
            </a:r>
            <a:r>
              <a:rPr lang="es-CO" sz="2400" dirty="0" err="1" smtClean="0">
                <a:solidFill>
                  <a:schemeClr val="bg1"/>
                </a:solidFill>
              </a:rPr>
              <a:t>ños</a:t>
            </a:r>
            <a:r>
              <a:rPr lang="es-CO" sz="2400" dirty="0" smtClean="0">
                <a:solidFill>
                  <a:schemeClr val="bg1"/>
                </a:solidFill>
              </a:rPr>
              <a:t> si mantienen su </a:t>
            </a:r>
            <a:r>
              <a:rPr lang="es-CO" sz="2400" dirty="0" err="1" smtClean="0">
                <a:solidFill>
                  <a:schemeClr val="bg1"/>
                </a:solidFill>
              </a:rPr>
              <a:t>tendecia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12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732</Words>
  <Application>Microsoft Office PowerPoint</Application>
  <PresentationFormat>Personalizado</PresentationFormat>
  <Paragraphs>95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Inter</vt:lpstr>
      <vt:lpstr>Arial</vt:lpstr>
      <vt:lpstr>Petrona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Usuario</dc:creator>
  <cp:lastModifiedBy>Usuario</cp:lastModifiedBy>
  <cp:revision>8</cp:revision>
  <dcterms:created xsi:type="dcterms:W3CDTF">2025-11-07T13:58:57Z</dcterms:created>
  <dcterms:modified xsi:type="dcterms:W3CDTF">2025-11-10T16:34:47Z</dcterms:modified>
</cp:coreProperties>
</file>